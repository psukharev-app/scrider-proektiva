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BB5AD-28E9-4224-84AD-DF61365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398004" cy="215625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 2. ПЛАНИРОВАНИЕ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1ED48-4C98-4090-AAF8-EACCB361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66634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Проект на платформе «Проектива»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47AC2C7-C460-4DAA-B597-61E392DBE6A8}"/>
              </a:ext>
            </a:extLst>
          </p:cNvPr>
          <p:cNvSpPr txBox="1">
            <a:spLocks/>
          </p:cNvSpPr>
          <p:nvPr/>
        </p:nvSpPr>
        <p:spPr>
          <a:xfrm>
            <a:off x="684212" y="685800"/>
            <a:ext cx="6400800" cy="6663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Scrider</a:t>
            </a:r>
            <a:endParaRPr lang="ru-RU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0DE6E-C3CE-459E-8DF2-51C92A29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4" y="397246"/>
            <a:ext cx="8534400" cy="801360"/>
          </a:xfrm>
        </p:spPr>
        <p:txBody>
          <a:bodyPr/>
          <a:lstStyle/>
          <a:p>
            <a:r>
              <a:rPr lang="ru-RU" dirty="0"/>
              <a:t>План митинга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C04CA-6957-418C-BD55-2AA498D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44" y="1359244"/>
            <a:ext cx="8534400" cy="4015945"/>
          </a:xfrm>
        </p:spPr>
        <p:txBody>
          <a:bodyPr/>
          <a:lstStyle/>
          <a:p>
            <a:r>
              <a:rPr lang="ru-RU" dirty="0"/>
              <a:t>0. Итоги этапа 1 Инициация</a:t>
            </a:r>
          </a:p>
          <a:p>
            <a:r>
              <a:rPr lang="ru-RU" dirty="0"/>
              <a:t>1. Этап планирования ПП – 2 части</a:t>
            </a:r>
          </a:p>
          <a:p>
            <a:r>
              <a:rPr lang="ru-RU" dirty="0"/>
              <a:t>2. Этапы работ </a:t>
            </a:r>
            <a:r>
              <a:rPr lang="en-US" dirty="0"/>
              <a:t>WBS</a:t>
            </a:r>
            <a:r>
              <a:rPr lang="ru-RU" dirty="0"/>
              <a:t> по проекту</a:t>
            </a:r>
          </a:p>
          <a:p>
            <a:r>
              <a:rPr lang="ru-RU" dirty="0"/>
              <a:t>3. </a:t>
            </a:r>
            <a:r>
              <a:rPr lang="en-US" dirty="0"/>
              <a:t>WBS </a:t>
            </a:r>
            <a:r>
              <a:rPr lang="ru-RU" dirty="0"/>
              <a:t>по разработке</a:t>
            </a:r>
          </a:p>
          <a:p>
            <a:r>
              <a:rPr lang="ru-RU" dirty="0"/>
              <a:t>4. Лента участия стейкхолдеров</a:t>
            </a:r>
            <a:endParaRPr lang="en-US" dirty="0"/>
          </a:p>
          <a:p>
            <a:r>
              <a:rPr lang="ru-RU" dirty="0"/>
              <a:t>5. Цели, сроки, дедлайны  </a:t>
            </a:r>
          </a:p>
          <a:p>
            <a:r>
              <a:rPr lang="ru-RU" dirty="0"/>
              <a:t>6. Задачи этапа </a:t>
            </a:r>
            <a:r>
              <a:rPr lang="ru-RU" b="1" dirty="0"/>
              <a:t>ПРОЕКТИВАНИЕ</a:t>
            </a:r>
          </a:p>
          <a:p>
            <a:r>
              <a:rPr lang="ru-RU" dirty="0"/>
              <a:t>7.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28036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ИТОГИ ЭТАПА 1 Инициация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4132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Результат этапа – </a:t>
            </a:r>
            <a:r>
              <a:rPr lang="ru-RU" dirty="0"/>
              <a:t>итоговый документ Устав проекта</a:t>
            </a:r>
          </a:p>
          <a:p>
            <a:endParaRPr lang="ru-RU" b="1" dirty="0"/>
          </a:p>
          <a:p>
            <a:r>
              <a:rPr lang="ru-RU" b="1" dirty="0"/>
              <a:t>Структура проекта:</a:t>
            </a:r>
            <a:r>
              <a:rPr lang="ru-RU" dirty="0"/>
              <a:t> задачи соответствуют веткам</a:t>
            </a:r>
          </a:p>
          <a:p>
            <a:r>
              <a:rPr lang="ru-RU" b="1" dirty="0"/>
              <a:t>Доска отражает результаты</a:t>
            </a:r>
          </a:p>
          <a:p>
            <a:r>
              <a:rPr lang="ru-RU" b="1" dirty="0"/>
              <a:t>Оценки участия и участников</a:t>
            </a:r>
          </a:p>
          <a:p>
            <a:r>
              <a:rPr lang="ru-RU" b="1" dirty="0"/>
              <a:t>Итоги – что можно сделать лучше</a:t>
            </a:r>
          </a:p>
        </p:txBody>
      </p:sp>
    </p:spTree>
    <p:extLst>
      <p:ext uri="{BB962C8B-B14F-4D97-AF65-F5344CB8AC3E}">
        <p14:creationId xmlns:p14="http://schemas.microsoft.com/office/powerpoint/2010/main" val="45569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Этап планирования ПП – 2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421029"/>
            <a:ext cx="9223162" cy="73601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ru-RU" b="1" dirty="0"/>
              <a:t>Общее планирование </a:t>
            </a:r>
          </a:p>
          <a:p>
            <a:pPr marL="457200" indent="-457200">
              <a:buAutoNum type="arabicPeriod"/>
            </a:pPr>
            <a:r>
              <a:rPr lang="ru-RU" b="1" dirty="0"/>
              <a:t>Планирование реализации продукта </a:t>
            </a:r>
            <a:r>
              <a:rPr lang="ru-RU" dirty="0"/>
              <a:t>– жизненный цикл разработки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287F05-6C30-4358-82EA-3AB40C26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908" y="2466526"/>
            <a:ext cx="7014108" cy="29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Этапы работ </a:t>
            </a:r>
            <a:r>
              <a:rPr lang="en-US" dirty="0"/>
              <a:t>WBS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053" y="1414583"/>
            <a:ext cx="3235570" cy="19772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2500" dirty="0"/>
              <a:t>Инициация.</a:t>
            </a:r>
          </a:p>
          <a:p>
            <a:r>
              <a:rPr lang="ru-RU" dirty="0"/>
              <a:t> Сделать описание проекта</a:t>
            </a:r>
          </a:p>
          <a:p>
            <a:r>
              <a:rPr lang="ru-RU" dirty="0"/>
              <a:t> Разработка и согласование устава проекта </a:t>
            </a:r>
          </a:p>
          <a:p>
            <a:r>
              <a:rPr lang="ru-RU" dirty="0"/>
              <a:t>Выявление ключевых стейкхолдеров </a:t>
            </a:r>
          </a:p>
          <a:p>
            <a:r>
              <a:rPr lang="ru-RU" dirty="0"/>
              <a:t>Определение бизнес-требований и целей MVP </a:t>
            </a:r>
          </a:p>
          <a:p>
            <a:r>
              <a:rPr lang="ru-RU" dirty="0"/>
              <a:t>Первичная оценка рисков и ограничений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98DA92-3363-4603-B5CC-3F2B60F7B3E5}"/>
              </a:ext>
            </a:extLst>
          </p:cNvPr>
          <p:cNvSpPr/>
          <p:nvPr/>
        </p:nvSpPr>
        <p:spPr>
          <a:xfrm>
            <a:off x="4272481" y="1430212"/>
            <a:ext cx="3647038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</a:pPr>
            <a:r>
              <a:rPr lang="ru-RU" sz="1200" dirty="0">
                <a:solidFill>
                  <a:srgbClr val="146194">
                    <a:lumMod val="75000"/>
                  </a:srgbClr>
                </a:solidFill>
              </a:rPr>
              <a:t>ПЛАНИРОВАНИЕ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 Создание </a:t>
            </a:r>
            <a:r>
              <a:rPr lang="en-US" sz="1000" dirty="0">
                <a:solidFill>
                  <a:srgbClr val="146194">
                    <a:lumMod val="75000"/>
                  </a:srgbClr>
                </a:solidFill>
              </a:rPr>
              <a:t>Product Roadmap</a:t>
            </a:r>
            <a:endParaRPr lang="ru-RU" sz="1000" dirty="0">
              <a:solidFill>
                <a:srgbClr val="146194">
                  <a:lumMod val="75000"/>
                </a:srgbClr>
              </a:solidFill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Разработка UI/UX дизайна и прототипов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Планирование технической архитектуры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Формирование бэклога разработки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Утверждение плана проекта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F96FA3-FC6D-4699-AFBD-A72F21A46DA2}"/>
              </a:ext>
            </a:extLst>
          </p:cNvPr>
          <p:cNvSpPr/>
          <p:nvPr/>
        </p:nvSpPr>
        <p:spPr>
          <a:xfrm>
            <a:off x="7603359" y="1414583"/>
            <a:ext cx="3861809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</a:pPr>
            <a:r>
              <a:rPr lang="ru-RU" sz="1200" dirty="0">
                <a:solidFill>
                  <a:srgbClr val="146194">
                    <a:lumMod val="75000"/>
                  </a:srgbClr>
                </a:solidFill>
              </a:rPr>
              <a:t>РЕАЛИЗАЦИЯ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Реализация бэкенд-функциональности (API, БД)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Разработка фронтенд-компонентов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Интеграция фронтенда и бэкенда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Тестирование функциональности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Char char=""/>
            </a:pPr>
            <a:r>
              <a:rPr lang="ru-RU" sz="1000" dirty="0">
                <a:solidFill>
                  <a:srgbClr val="146194">
                    <a:lumMod val="75000"/>
                  </a:srgbClr>
                </a:solidFill>
              </a:rPr>
              <a:t>Подготовка к релизу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A2546B-4F90-434B-B614-1467398B4A85}"/>
              </a:ext>
            </a:extLst>
          </p:cNvPr>
          <p:cNvSpPr/>
          <p:nvPr/>
        </p:nvSpPr>
        <p:spPr>
          <a:xfrm>
            <a:off x="922215" y="3748125"/>
            <a:ext cx="4095262" cy="2001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ЗАКРЫТИЕ (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15/05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Проведение приемочного тестирования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Деплой на </a:t>
            </a:r>
            <a:r>
              <a:rPr lang="ru-RU" sz="1200" dirty="0" err="1">
                <a:solidFill>
                  <a:srgbClr val="0F1115"/>
                </a:solidFill>
                <a:latin typeface="quote-cjk-patch"/>
              </a:rPr>
              <a:t>продакшн</a:t>
            </a:r>
            <a:r>
              <a:rPr lang="ru-RU" sz="1200" dirty="0">
                <a:solidFill>
                  <a:srgbClr val="0F1115"/>
                </a:solidFill>
                <a:latin typeface="quote-cjk-patch"/>
              </a:rPr>
              <a:t>-сервер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Финализация документации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Проведение ретроспективы проекта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Оценка достижения целей проекта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F1115"/>
                </a:solidFill>
                <a:latin typeface="quote-cjk-patch"/>
              </a:rPr>
              <a:t>Формальное закрытие проекта и отчетность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95427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en-US" dirty="0" err="1"/>
              <a:t>Wbs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ru-RU" dirty="0" err="1"/>
              <a:t>разРаработке</a:t>
            </a:r>
            <a:r>
              <a:rPr lang="ru-RU" dirty="0"/>
              <a:t> ПП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03" y="1541363"/>
            <a:ext cx="2361254" cy="1324709"/>
          </a:xfrm>
        </p:spPr>
        <p:txBody>
          <a:bodyPr>
            <a:normAutofit fontScale="40000" lnSpcReduction="20000"/>
          </a:bodyPr>
          <a:lstStyle/>
          <a:p>
            <a:r>
              <a:rPr lang="ru-RU" b="1" dirty="0"/>
              <a:t>Анализ и проектирование (35%)</a:t>
            </a:r>
            <a:endParaRPr lang="ru-RU" dirty="0"/>
          </a:p>
          <a:p>
            <a:r>
              <a:rPr lang="ru-RU" dirty="0"/>
              <a:t>Сбор и анализ требований</a:t>
            </a:r>
          </a:p>
          <a:p>
            <a:r>
              <a:rPr lang="ru-RU" dirty="0"/>
              <a:t>Проектирование архитектуры</a:t>
            </a:r>
          </a:p>
          <a:p>
            <a:r>
              <a:rPr lang="ru-RU" dirty="0"/>
              <a:t>Создание UI/UX прототипов</a:t>
            </a:r>
          </a:p>
          <a:p>
            <a:r>
              <a:rPr lang="ru-RU" dirty="0"/>
              <a:t>Разработка технической документации</a:t>
            </a:r>
          </a:p>
          <a:p>
            <a:r>
              <a:rPr lang="ru-RU" dirty="0"/>
              <a:t>Спринт планирование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D4D25E2-B2B6-481E-9F08-01F75B959C94}"/>
              </a:ext>
            </a:extLst>
          </p:cNvPr>
          <p:cNvSpPr txBox="1">
            <a:spLocks/>
          </p:cNvSpPr>
          <p:nvPr/>
        </p:nvSpPr>
        <p:spPr>
          <a:xfrm>
            <a:off x="3191576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Разработка и реализация (20%)</a:t>
            </a:r>
            <a:endParaRPr lang="ru-RU" dirty="0"/>
          </a:p>
          <a:p>
            <a:r>
              <a:rPr lang="ru-RU" dirty="0"/>
              <a:t>Написание кода</a:t>
            </a:r>
          </a:p>
          <a:p>
            <a:r>
              <a:rPr lang="ru-RU" dirty="0"/>
              <a:t>Интеграция модулей</a:t>
            </a:r>
          </a:p>
          <a:p>
            <a:r>
              <a:rPr lang="ru-RU" dirty="0"/>
              <a:t>Настройка CI/CD</a:t>
            </a:r>
          </a:p>
          <a:p>
            <a:r>
              <a:rPr lang="ru-RU" dirty="0"/>
              <a:t>Код-ревью и рефакторинг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72C4A3-97BD-45B5-AE56-B2F2CFC8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38" y="3349451"/>
            <a:ext cx="4286038" cy="2131309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F692E51D-E0F7-4C1F-BEC9-1568D1D1F26C}"/>
              </a:ext>
            </a:extLst>
          </p:cNvPr>
          <p:cNvSpPr txBox="1">
            <a:spLocks/>
          </p:cNvSpPr>
          <p:nvPr/>
        </p:nvSpPr>
        <p:spPr>
          <a:xfrm>
            <a:off x="5558190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Тестирование и QA (30%)</a:t>
            </a:r>
            <a:endParaRPr lang="ru-RU" dirty="0"/>
          </a:p>
          <a:p>
            <a:r>
              <a:rPr lang="ru-RU" dirty="0"/>
              <a:t>Функциональное тестирование</a:t>
            </a:r>
          </a:p>
          <a:p>
            <a:r>
              <a:rPr lang="ru-RU" dirty="0"/>
              <a:t>Нагрузочное тестирование</a:t>
            </a:r>
          </a:p>
          <a:p>
            <a:r>
              <a:rPr lang="ru-RU" dirty="0"/>
              <a:t>UAT-тестирование</a:t>
            </a:r>
          </a:p>
          <a:p>
            <a:r>
              <a:rPr lang="ru-RU" dirty="0"/>
              <a:t>Исправление дефектов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FEBCCDA6-327E-4D99-BD01-5445FF50DA8B}"/>
              </a:ext>
            </a:extLst>
          </p:cNvPr>
          <p:cNvSpPr txBox="1">
            <a:spLocks/>
          </p:cNvSpPr>
          <p:nvPr/>
        </p:nvSpPr>
        <p:spPr>
          <a:xfrm>
            <a:off x="7924804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800" b="1" dirty="0"/>
              <a:t>Внедрение и развертывание (10%)</a:t>
            </a:r>
            <a:endParaRPr lang="ru-RU" sz="800" dirty="0"/>
          </a:p>
          <a:p>
            <a:r>
              <a:rPr lang="ru-RU" sz="800" dirty="0"/>
              <a:t>Развертывание в </a:t>
            </a:r>
            <a:r>
              <a:rPr lang="ru-RU" sz="800" dirty="0" err="1"/>
              <a:t>production</a:t>
            </a:r>
            <a:endParaRPr lang="ru-RU" sz="800" dirty="0"/>
          </a:p>
          <a:p>
            <a:r>
              <a:rPr lang="ru-RU" sz="800" dirty="0"/>
              <a:t>Миграция данных</a:t>
            </a:r>
          </a:p>
          <a:p>
            <a:r>
              <a:rPr lang="ru-RU" sz="800" dirty="0"/>
              <a:t>Обучение пользователей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4127830-F6BA-41E0-AAB7-B6C7A55C4783}"/>
              </a:ext>
            </a:extLst>
          </p:cNvPr>
          <p:cNvSpPr txBox="1">
            <a:spLocks/>
          </p:cNvSpPr>
          <p:nvPr/>
        </p:nvSpPr>
        <p:spPr>
          <a:xfrm>
            <a:off x="5558190" y="3183036"/>
            <a:ext cx="2616702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800" b="1" dirty="0"/>
              <a:t>Эксплуатация* и сопровождение (5%)</a:t>
            </a:r>
            <a:endParaRPr lang="ru-RU" sz="800" dirty="0"/>
          </a:p>
          <a:p>
            <a:r>
              <a:rPr lang="ru-RU" sz="800" dirty="0"/>
              <a:t>Техническая поддержка</a:t>
            </a:r>
          </a:p>
          <a:p>
            <a:r>
              <a:rPr lang="ru-RU" sz="800" dirty="0"/>
              <a:t>Мониторинг и обслуживание</a:t>
            </a:r>
          </a:p>
          <a:p>
            <a:r>
              <a:rPr lang="ru-RU" sz="800" dirty="0"/>
              <a:t>Незначительные доработки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94FFF1-EF48-4F6D-80E2-6D80586696D5}"/>
              </a:ext>
            </a:extLst>
          </p:cNvPr>
          <p:cNvSpPr/>
          <p:nvPr/>
        </p:nvSpPr>
        <p:spPr>
          <a:xfrm>
            <a:off x="5912828" y="4522151"/>
            <a:ext cx="143821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F496F"/>
                </a:solidFill>
              </a:rPr>
              <a:t>*</a:t>
            </a:r>
            <a:r>
              <a:rPr lang="ru-RU" sz="900" dirty="0">
                <a:solidFill>
                  <a:srgbClr val="0F496F"/>
                </a:solidFill>
              </a:rPr>
              <a:t>для </a:t>
            </a:r>
            <a:r>
              <a:rPr lang="en-US" sz="900" dirty="0">
                <a:solidFill>
                  <a:srgbClr val="0F496F"/>
                </a:solidFill>
              </a:rPr>
              <a:t>MVP </a:t>
            </a:r>
            <a:r>
              <a:rPr lang="ru-RU" sz="900" dirty="0">
                <a:solidFill>
                  <a:srgbClr val="0F496F"/>
                </a:solidFill>
              </a:rPr>
              <a:t>не критично</a:t>
            </a:r>
          </a:p>
        </p:txBody>
      </p:sp>
    </p:spTree>
    <p:extLst>
      <p:ext uri="{BB962C8B-B14F-4D97-AF65-F5344CB8AC3E}">
        <p14:creationId xmlns:p14="http://schemas.microsoft.com/office/powerpoint/2010/main" val="39234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Лента участия стейкхолдеров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7846" y="1425725"/>
            <a:ext cx="5361355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План выполнения</a:t>
            </a:r>
          </a:p>
          <a:p>
            <a:pPr marL="0" indent="0">
              <a:buNone/>
            </a:pPr>
            <a:r>
              <a:rPr lang="ru-RU" dirty="0"/>
              <a:t>Задачи в «Проективе»</a:t>
            </a:r>
          </a:p>
          <a:p>
            <a:pPr marL="0" indent="0">
              <a:buNone/>
            </a:pPr>
            <a:r>
              <a:rPr lang="ru-RU" dirty="0"/>
              <a:t>Дерево коммитов (изменений) в репозитории </a:t>
            </a:r>
            <a:r>
              <a:rPr lang="en-US" dirty="0"/>
              <a:t>GitHub</a:t>
            </a:r>
          </a:p>
          <a:p>
            <a:pPr marL="0" indent="0">
              <a:buNone/>
            </a:pPr>
            <a:r>
              <a:rPr lang="ru-RU" dirty="0"/>
              <a:t>Изменения должны соответствовать плану выполнения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 каждому этапу – будет видеовстреча, участие опционально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B5876B-4558-4F2E-90D1-6054903FD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8" y="1265899"/>
            <a:ext cx="4595447" cy="52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5699C1-DA4A-40D9-AB08-9431FE86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74" y="2820984"/>
            <a:ext cx="9428896" cy="185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 приблизительные даты защиты проектов в этом осеннем семестре:</a:t>
            </a:r>
            <a:br>
              <a:rPr lang="ru-RU" dirty="0"/>
            </a:br>
            <a:endParaRPr lang="ru-RU" dirty="0"/>
          </a:p>
          <a:p>
            <a:pPr marL="0" indent="0" algn="ctr">
              <a:buNone/>
            </a:pPr>
            <a:r>
              <a:rPr lang="en-US" b="1" dirty="0"/>
              <a:t>       </a:t>
            </a:r>
            <a:r>
              <a:rPr lang="ru-RU" b="1" dirty="0"/>
              <a:t>15–</a:t>
            </a:r>
            <a:r>
              <a:rPr lang="en-US" b="1" dirty="0"/>
              <a:t>24</a:t>
            </a:r>
            <a:r>
              <a:rPr lang="ru-RU" b="1" dirty="0"/>
              <a:t> мая 2026 года !!!!!!!   </a:t>
            </a:r>
            <a:br>
              <a:rPr lang="ru-RU" dirty="0"/>
            </a:br>
            <a:r>
              <a:rPr lang="ru-RU" dirty="0"/>
              <a:t>     </a:t>
            </a: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11EA3-AB99-4A91-AC2D-35621723802C}"/>
              </a:ext>
            </a:extLst>
          </p:cNvPr>
          <p:cNvSpPr/>
          <p:nvPr/>
        </p:nvSpPr>
        <p:spPr>
          <a:xfrm>
            <a:off x="684212" y="527561"/>
            <a:ext cx="639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119662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3550</TotalTime>
  <Words>305</Words>
  <Application>Microsoft Office PowerPoint</Application>
  <PresentationFormat>Широкоэкранный</PresentationFormat>
  <Paragraphs>82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Courier New</vt:lpstr>
      <vt:lpstr>quote-cjk-patch</vt:lpstr>
      <vt:lpstr>Wingdings 3</vt:lpstr>
      <vt:lpstr>Сектор</vt:lpstr>
      <vt:lpstr>Этап 2. ПЛАНИРОВАНИЕ</vt:lpstr>
      <vt:lpstr>План митинга</vt:lpstr>
      <vt:lpstr>ИТОГИ ЭТАПА 1 Инициация</vt:lpstr>
      <vt:lpstr>Этап планирования ПП – 2 части</vt:lpstr>
      <vt:lpstr>Этапы работ WBS</vt:lpstr>
      <vt:lpstr>Wbs по разРаработке ПП</vt:lpstr>
      <vt:lpstr>Лента участия стейкхолдеров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1. Инициализация</dc:title>
  <dc:creator>Сухарев Павел Викторович</dc:creator>
  <cp:lastModifiedBy>Сухарев Павел Викторович</cp:lastModifiedBy>
  <cp:revision>36</cp:revision>
  <dcterms:created xsi:type="dcterms:W3CDTF">2025-11-04T05:00:11Z</dcterms:created>
  <dcterms:modified xsi:type="dcterms:W3CDTF">2026-04-27T10:09:01Z</dcterms:modified>
</cp:coreProperties>
</file>