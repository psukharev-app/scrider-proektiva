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  <p:sldId id="259" r:id="rId4"/>
    <p:sldId id="265" r:id="rId5"/>
    <p:sldId id="261" r:id="rId6"/>
    <p:sldId id="262" r:id="rId7"/>
    <p:sldId id="263" r:id="rId8"/>
    <p:sldId id="258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F496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72" autoAdjust="0"/>
    <p:restoredTop sz="94660"/>
  </p:normalViewPr>
  <p:slideViewPr>
    <p:cSldViewPr snapToGrid="0">
      <p:cViewPr varScale="1">
        <p:scale>
          <a:sx n="122" d="100"/>
          <a:sy n="122" d="100"/>
        </p:scale>
        <p:origin x="90" y="29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4212" y="685799"/>
            <a:ext cx="8001000" cy="2971801"/>
          </a:xfrm>
        </p:spPr>
        <p:txBody>
          <a:bodyPr anchor="b">
            <a:normAutofit/>
          </a:bodyPr>
          <a:lstStyle>
            <a:lvl1pPr algn="l">
              <a:defRPr sz="4800">
                <a:effectLst/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4212" y="3843867"/>
            <a:ext cx="6400800" cy="1947333"/>
          </a:xfrm>
        </p:spPr>
        <p:txBody>
          <a:bodyPr anchor="t">
            <a:normAutofit/>
          </a:bodyPr>
          <a:lstStyle>
            <a:lvl1pPr marL="0" indent="0" algn="l">
              <a:buNone/>
              <a:defRPr sz="21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6" name="Straight Connector 15"/>
          <p:cNvCxnSpPr/>
          <p:nvPr/>
        </p:nvCxnSpPr>
        <p:spPr>
          <a:xfrm flipH="1">
            <a:off x="8228012" y="8467"/>
            <a:ext cx="3810000" cy="381000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/>
          <p:cNvCxnSpPr/>
          <p:nvPr/>
        </p:nvCxnSpPr>
        <p:spPr>
          <a:xfrm flipH="1">
            <a:off x="6108170" y="91545"/>
            <a:ext cx="6080655" cy="6080655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/>
          <p:cNvCxnSpPr/>
          <p:nvPr/>
        </p:nvCxnSpPr>
        <p:spPr>
          <a:xfrm flipH="1">
            <a:off x="7235825" y="228600"/>
            <a:ext cx="4953000" cy="495300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/>
          <p:cNvCxnSpPr/>
          <p:nvPr/>
        </p:nvCxnSpPr>
        <p:spPr>
          <a:xfrm flipH="1">
            <a:off x="7335837" y="32278"/>
            <a:ext cx="4852989" cy="4852989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/>
          <p:cNvCxnSpPr/>
          <p:nvPr/>
        </p:nvCxnSpPr>
        <p:spPr>
          <a:xfrm flipH="1">
            <a:off x="7845426" y="609601"/>
            <a:ext cx="4343399" cy="4343399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1" y="2006600"/>
            <a:ext cx="8534401" cy="2281600"/>
          </a:xfrm>
        </p:spPr>
        <p:txBody>
          <a:bodyPr anchor="b">
            <a:normAutofit/>
          </a:bodyPr>
          <a:lstStyle>
            <a:lvl1pPr algn="l">
              <a:defRPr sz="3600" b="0" cap="all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3" y="4495800"/>
            <a:ext cx="8534400" cy="14986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4211" y="685800"/>
            <a:ext cx="4937655" cy="3615267"/>
          </a:xfrm>
        </p:spPr>
        <p:txBody>
          <a:bodyPr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08133" y="685801"/>
            <a:ext cx="4934479" cy="3615266"/>
          </a:xfrm>
        </p:spPr>
        <p:txBody>
          <a:bodyPr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5/6/2026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72080" y="685800"/>
            <a:ext cx="4649787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4211" y="1270529"/>
            <a:ext cx="4937655" cy="3030538"/>
          </a:xfrm>
        </p:spPr>
        <p:txBody>
          <a:bodyPr anchor="t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079066" y="685800"/>
            <a:ext cx="4665134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806545" y="1262062"/>
            <a:ext cx="4929188" cy="3030538"/>
          </a:xfrm>
        </p:spPr>
        <p:txBody>
          <a:bodyPr anchor="t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5/6/2026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5/6/2026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5/6/2026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085012" y="685800"/>
            <a:ext cx="3657600" cy="137160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4212" y="685800"/>
            <a:ext cx="5943601" cy="5308600"/>
          </a:xfrm>
        </p:spPr>
        <p:txBody>
          <a:bodyPr anchor="ctr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085012" y="2209799"/>
            <a:ext cx="3657600" cy="2091267"/>
          </a:xfrm>
        </p:spPr>
        <p:txBody>
          <a:bodyPr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5/6/2026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2812" y="1447800"/>
            <a:ext cx="6019800" cy="1143000"/>
          </a:xfrm>
        </p:spPr>
        <p:txBody>
          <a:bodyPr anchor="b">
            <a:normAutofit/>
          </a:bodyPr>
          <a:lstStyle>
            <a:lvl1pPr algn="l">
              <a:defRPr sz="2800" b="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989012" y="914400"/>
            <a:ext cx="3280974" cy="4572000"/>
          </a:xfrm>
          <a:prstGeom prst="snip2DiagRect">
            <a:avLst>
              <a:gd name="adj1" fmla="val 10815"/>
              <a:gd name="adj2" fmla="val 0"/>
            </a:avLst>
          </a:prstGeom>
          <a:ln w="15875">
            <a:solidFill>
              <a:schemeClr val="tx1">
                <a:alpha val="4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2812" y="2777066"/>
            <a:ext cx="6021388" cy="2048933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5/6/2026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Панорамная фотография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3"/>
          </p:nvPr>
        </p:nvSpPr>
        <p:spPr>
          <a:xfrm>
            <a:off x="685800" y="533400"/>
            <a:ext cx="10818812" cy="3124200"/>
          </a:xfrm>
          <a:prstGeom prst="snip2DiagRect">
            <a:avLst>
              <a:gd name="adj1" fmla="val 10815"/>
              <a:gd name="adj2" fmla="val 0"/>
            </a:avLst>
          </a:prstGeom>
          <a:ln w="15875">
            <a:solidFill>
              <a:schemeClr val="tx1">
                <a:alpha val="4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16" name="Text Placeholder 9"/>
          <p:cNvSpPr>
            <a:spLocks noGrp="1"/>
          </p:cNvSpPr>
          <p:nvPr>
            <p:ph type="body" sz="quarter" idx="14"/>
          </p:nvPr>
        </p:nvSpPr>
        <p:spPr>
          <a:xfrm>
            <a:off x="914402" y="3843867"/>
            <a:ext cx="8304210" cy="457200"/>
          </a:xfrm>
        </p:spPr>
        <p:txBody>
          <a:bodyPr anchor="t">
            <a:normAutofit/>
          </a:bodyPr>
          <a:lstStyle>
            <a:lvl1pPr marL="0" indent="0">
              <a:buFontTx/>
              <a:buNone/>
              <a:defRPr sz="16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5/6/2026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Заголовок и подпис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3" y="685800"/>
            <a:ext cx="10058400" cy="2743200"/>
          </a:xfrm>
        </p:spPr>
        <p:txBody>
          <a:bodyPr anchor="ctr">
            <a:normAutofit/>
          </a:bodyPr>
          <a:lstStyle>
            <a:lvl1pPr algn="l">
              <a:defRPr sz="3200" b="0" cap="all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2" y="4114800"/>
            <a:ext cx="8535988" cy="18796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Цитата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685800"/>
            <a:ext cx="9144001" cy="2743200"/>
          </a:xfrm>
        </p:spPr>
        <p:txBody>
          <a:bodyPr anchor="ctr">
            <a:normAutofit/>
          </a:bodyPr>
          <a:lstStyle>
            <a:lvl1pPr algn="l">
              <a:defRPr sz="3200" b="0" cap="all">
                <a:solidFill>
                  <a:schemeClr val="tx1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446212" y="3429000"/>
            <a:ext cx="8534400" cy="381000"/>
          </a:xfrm>
        </p:spPr>
        <p:txBody>
          <a:bodyPr anchor="ctr"/>
          <a:lstStyle>
            <a:lvl1pPr marL="0" indent="0">
              <a:buFontTx/>
              <a:buNone/>
              <a:defRPr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3" y="4301067"/>
            <a:ext cx="8534400" cy="1684865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14" name="TextBox 13"/>
          <p:cNvSpPr txBox="1"/>
          <p:nvPr/>
        </p:nvSpPr>
        <p:spPr>
          <a:xfrm>
            <a:off x="531812" y="81222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285412" y="276860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Карточка имен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2" y="3429000"/>
            <a:ext cx="8534400" cy="1697400"/>
          </a:xfrm>
        </p:spPr>
        <p:txBody>
          <a:bodyPr anchor="b">
            <a:normAutofit/>
          </a:bodyPr>
          <a:lstStyle>
            <a:lvl1pPr algn="l">
              <a:defRPr sz="3200" b="0" cap="all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1" y="5132981"/>
            <a:ext cx="8535990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Цитата карточки имен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85800"/>
            <a:ext cx="9144000" cy="2743200"/>
          </a:xfrm>
        </p:spPr>
        <p:txBody>
          <a:bodyPr anchor="ctr">
            <a:normAutofit/>
          </a:bodyPr>
          <a:lstStyle>
            <a:lvl1pPr algn="l">
              <a:defRPr sz="3200" b="0" cap="all">
                <a:solidFill>
                  <a:schemeClr val="tx1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4212" y="3928534"/>
            <a:ext cx="8534401" cy="1049866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all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ru-RU"/>
              <a:t>Образец текста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1" y="4978400"/>
            <a:ext cx="8534401" cy="10160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11" name="TextBox 10"/>
          <p:cNvSpPr txBox="1"/>
          <p:nvPr/>
        </p:nvSpPr>
        <p:spPr>
          <a:xfrm>
            <a:off x="531812" y="81222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285412" y="276860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Истина или лож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3" y="685800"/>
            <a:ext cx="10058400" cy="2743200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4212" y="3928534"/>
            <a:ext cx="8534400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all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ru-RU"/>
              <a:t>Образец текста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1" y="4766732"/>
            <a:ext cx="8534401" cy="1227667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85212" y="685800"/>
            <a:ext cx="2057400" cy="4572000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85800"/>
            <a:ext cx="7823200" cy="5308600"/>
          </a:xfrm>
        </p:spPr>
        <p:txBody>
          <a:bodyPr vert="eaVert" anchor="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9206969" y="2963333"/>
            <a:ext cx="2981858" cy="3208867"/>
            <a:chOff x="9206969" y="2963333"/>
            <a:chExt cx="2981858" cy="3208867"/>
          </a:xfrm>
        </p:grpSpPr>
        <p:cxnSp>
          <p:nvCxnSpPr>
            <p:cNvPr id="8" name="Straight Connector 7"/>
            <p:cNvCxnSpPr/>
            <p:nvPr/>
          </p:nvCxnSpPr>
          <p:spPr>
            <a:xfrm flipH="1">
              <a:off x="11276012" y="2963333"/>
              <a:ext cx="912814" cy="912812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/>
            <p:cNvCxnSpPr/>
            <p:nvPr/>
          </p:nvCxnSpPr>
          <p:spPr>
            <a:xfrm flipH="1">
              <a:off x="9206969" y="3190344"/>
              <a:ext cx="2981857" cy="2981856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/>
            <p:cNvCxnSpPr/>
            <p:nvPr/>
          </p:nvCxnSpPr>
          <p:spPr>
            <a:xfrm flipH="1">
              <a:off x="10292292" y="3285067"/>
              <a:ext cx="1896534" cy="1896533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/>
            <p:cNvCxnSpPr/>
            <p:nvPr/>
          </p:nvCxnSpPr>
          <p:spPr>
            <a:xfrm flipH="1">
              <a:off x="10443103" y="3131080"/>
              <a:ext cx="1745722" cy="174572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/>
            <p:cNvCxnSpPr/>
            <p:nvPr/>
          </p:nvCxnSpPr>
          <p:spPr>
            <a:xfrm flipH="1">
              <a:off x="10918826" y="3683001"/>
              <a:ext cx="1270001" cy="1269999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4212" y="4487332"/>
            <a:ext cx="8534400" cy="15070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2" y="685800"/>
            <a:ext cx="8534400" cy="361526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904412" y="6172200"/>
            <a:ext cx="1600200" cy="36512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10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fld id="{B61BEF0D-F0BB-DE4B-95CE-6DB70DBA9567}" type="datetimeFigureOut">
              <a:rPr lang="en-US" dirty="0"/>
              <a:pPr/>
              <a:t>5/6/2026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4212" y="6172200"/>
            <a:ext cx="7543800" cy="36512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0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63200" y="5578475"/>
            <a:ext cx="1142245" cy="6699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32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60" r:id="rId9"/>
    <p:sldLayoutId id="2147483668" r:id="rId10"/>
    <p:sldLayoutId id="2147483663" r:id="rId11"/>
    <p:sldLayoutId id="2147483664" r:id="rId12"/>
    <p:sldLayoutId id="2147483665" r:id="rId13"/>
    <p:sldLayoutId id="2147483666" r:id="rId14"/>
    <p:sldLayoutId id="2147483667" r:id="rId15"/>
    <p:sldLayoutId id="2147483658" r:id="rId16"/>
    <p:sldLayoutId id="2147483659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 cap="all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20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8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6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19BB5AD-28E9-4224-84AD-DF61365367A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84212" y="685800"/>
            <a:ext cx="8398004" cy="2156254"/>
          </a:xfrm>
        </p:spPr>
        <p:txBody>
          <a:bodyPr/>
          <a:lstStyle/>
          <a:p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Этап 3. Реализация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3521ED48-4C98-4090-AAF8-EACCB361AE6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84212" y="3843867"/>
            <a:ext cx="6400800" cy="666349"/>
          </a:xfrm>
        </p:spPr>
        <p:txBody>
          <a:bodyPr/>
          <a:lstStyle/>
          <a:p>
            <a:r>
              <a:rPr lang="ru-RU" dirty="0">
                <a:solidFill>
                  <a:schemeClr val="tx1"/>
                </a:solidFill>
              </a:rPr>
              <a:t>Проект на платформе «Проектива»</a:t>
            </a:r>
          </a:p>
          <a:p>
            <a:endParaRPr lang="ru-RU" dirty="0"/>
          </a:p>
        </p:txBody>
      </p:sp>
      <p:sp>
        <p:nvSpPr>
          <p:cNvPr id="4" name="Подзаголовок 2">
            <a:extLst>
              <a:ext uri="{FF2B5EF4-FFF2-40B4-BE49-F238E27FC236}">
                <a16:creationId xmlns:a16="http://schemas.microsoft.com/office/drawing/2014/main" id="{D47AC2C7-C460-4DAA-B597-61E392DBE6A8}"/>
              </a:ext>
            </a:extLst>
          </p:cNvPr>
          <p:cNvSpPr txBox="1">
            <a:spLocks/>
          </p:cNvSpPr>
          <p:nvPr/>
        </p:nvSpPr>
        <p:spPr>
          <a:xfrm>
            <a:off x="684212" y="685800"/>
            <a:ext cx="6400800" cy="666349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None/>
              <a:defRPr sz="210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1pPr>
            <a:lvl2pPr marL="4572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None/>
              <a:defRPr sz="18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2pPr>
            <a:lvl3pPr marL="9144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None/>
              <a:defRPr sz="16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3pPr>
            <a:lvl4pPr marL="13716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None/>
              <a:defRPr sz="14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4pPr>
            <a:lvl5pPr marL="18288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None/>
              <a:defRPr sz="14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5pPr>
            <a:lvl6pPr marL="22860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None/>
              <a:defRPr sz="14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6pPr>
            <a:lvl7pPr marL="27432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None/>
              <a:defRPr sz="14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7pPr>
            <a:lvl8pPr marL="32004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None/>
              <a:defRPr sz="14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8pPr>
            <a:lvl9pPr marL="36576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None/>
              <a:defRPr sz="14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r>
              <a:rPr lang="en-US" sz="40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Scrider</a:t>
            </a:r>
            <a:endParaRPr lang="ru-RU" sz="40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348556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0A0DE6E-C3CE-459E-8DF2-51C92A2989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0644" y="397246"/>
            <a:ext cx="8534400" cy="801360"/>
          </a:xfrm>
        </p:spPr>
        <p:txBody>
          <a:bodyPr/>
          <a:lstStyle/>
          <a:p>
            <a:r>
              <a:rPr lang="ru-RU" dirty="0"/>
              <a:t>План митинга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650C04CA-6957-418C-BD55-2AA498D2029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60644" y="1359244"/>
            <a:ext cx="8534400" cy="4015945"/>
          </a:xfrm>
        </p:spPr>
        <p:txBody>
          <a:bodyPr/>
          <a:lstStyle/>
          <a:p>
            <a:r>
              <a:rPr lang="ru-RU" dirty="0"/>
              <a:t>0. Итоги этапа 2 Планирование</a:t>
            </a:r>
          </a:p>
          <a:p>
            <a:r>
              <a:rPr lang="ru-RU" dirty="0"/>
              <a:t>1. Введение в этап реализация</a:t>
            </a:r>
          </a:p>
          <a:p>
            <a:r>
              <a:rPr lang="ru-RU" dirty="0"/>
              <a:t>2. Организационная структура этапа</a:t>
            </a:r>
          </a:p>
          <a:p>
            <a:r>
              <a:rPr lang="ru-RU" dirty="0"/>
              <a:t>3. </a:t>
            </a:r>
            <a:r>
              <a:rPr lang="en-US" dirty="0"/>
              <a:t>WBS </a:t>
            </a:r>
            <a:r>
              <a:rPr lang="ru-RU" dirty="0"/>
              <a:t>по разработке</a:t>
            </a:r>
          </a:p>
          <a:p>
            <a:r>
              <a:rPr lang="ru-RU" dirty="0"/>
              <a:t>4. </a:t>
            </a:r>
            <a:r>
              <a:rPr lang="ru-RU" b="1" dirty="0"/>
              <a:t>Процессы контроля</a:t>
            </a:r>
            <a:endParaRPr lang="en-US" dirty="0"/>
          </a:p>
          <a:p>
            <a:r>
              <a:rPr lang="ru-RU" dirty="0"/>
              <a:t>5. </a:t>
            </a:r>
            <a:r>
              <a:rPr lang="ru-RU" b="1" dirty="0"/>
              <a:t>Критерии завершения этапа</a:t>
            </a:r>
            <a:r>
              <a:rPr lang="ru-RU" dirty="0"/>
              <a:t>  </a:t>
            </a:r>
          </a:p>
          <a:p>
            <a:r>
              <a:rPr lang="ru-RU" dirty="0"/>
              <a:t>6. Задачи этапа </a:t>
            </a:r>
            <a:r>
              <a:rPr lang="ru-RU" b="1" dirty="0"/>
              <a:t>РЕАЛИЗАЦИЯ</a:t>
            </a:r>
          </a:p>
          <a:p>
            <a:r>
              <a:rPr lang="ru-RU" dirty="0"/>
              <a:t>7. Вопросы</a:t>
            </a:r>
          </a:p>
        </p:txBody>
      </p:sp>
    </p:spTree>
    <p:extLst>
      <p:ext uri="{BB962C8B-B14F-4D97-AF65-F5344CB8AC3E}">
        <p14:creationId xmlns:p14="http://schemas.microsoft.com/office/powerpoint/2010/main" val="428036556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0C31A4A-E529-4F59-AC6A-FCFF9082A1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3638" y="319734"/>
            <a:ext cx="9423615" cy="916575"/>
          </a:xfrm>
        </p:spPr>
        <p:txBody>
          <a:bodyPr/>
          <a:lstStyle/>
          <a:p>
            <a:r>
              <a:rPr lang="ru-RU" dirty="0"/>
              <a:t>ИТОГИ ЭТАПА 2 ПРОЕКТИРОВАНИЕ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CB620F9-E6B3-44A1-ABE9-47CF4B578BC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33638" y="1236309"/>
            <a:ext cx="8645139" cy="413286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b="1" dirty="0"/>
              <a:t>   Результат этапа – документация по проектированию</a:t>
            </a:r>
            <a:endParaRPr lang="ru-RU" dirty="0"/>
          </a:p>
          <a:p>
            <a:endParaRPr lang="ru-RU" b="1" dirty="0"/>
          </a:p>
          <a:p>
            <a:r>
              <a:rPr lang="ru-RU" b="1" dirty="0"/>
              <a:t>Структура проекта:</a:t>
            </a:r>
            <a:r>
              <a:rPr lang="ru-RU" dirty="0"/>
              <a:t> задачи соответствуют веткам</a:t>
            </a:r>
          </a:p>
          <a:p>
            <a:r>
              <a:rPr lang="ru-RU" b="1" dirty="0"/>
              <a:t>Доска отражает результаты</a:t>
            </a:r>
          </a:p>
          <a:p>
            <a:r>
              <a:rPr lang="ru-RU" b="1" dirty="0"/>
              <a:t>Оценки участия и участников</a:t>
            </a:r>
          </a:p>
          <a:p>
            <a:r>
              <a:rPr lang="ru-RU" b="1" dirty="0"/>
              <a:t>Итоги – что можно сделать лучше</a:t>
            </a:r>
          </a:p>
        </p:txBody>
      </p:sp>
    </p:spTree>
    <p:extLst>
      <p:ext uri="{BB962C8B-B14F-4D97-AF65-F5344CB8AC3E}">
        <p14:creationId xmlns:p14="http://schemas.microsoft.com/office/powerpoint/2010/main" val="45569309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0C31A4A-E529-4F59-AC6A-FCFF9082A1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3638" y="319734"/>
            <a:ext cx="9423615" cy="916575"/>
          </a:xfrm>
        </p:spPr>
        <p:txBody>
          <a:bodyPr/>
          <a:lstStyle/>
          <a:p>
            <a:r>
              <a:rPr lang="ru-RU" dirty="0"/>
              <a:t>Введение в этап реализации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CB620F9-E6B3-44A1-ABE9-47CF4B578BC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33638" y="1236309"/>
            <a:ext cx="8645139" cy="413286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b="1" dirty="0"/>
              <a:t>   Результат этапа – работающий </a:t>
            </a:r>
            <a:r>
              <a:rPr lang="en-US" b="1" dirty="0"/>
              <a:t>MVP</a:t>
            </a:r>
            <a:endParaRPr lang="ru-RU" dirty="0"/>
          </a:p>
          <a:p>
            <a:endParaRPr lang="ru-RU" b="1" dirty="0"/>
          </a:p>
          <a:p>
            <a:r>
              <a:rPr lang="ru-RU" dirty="0"/>
              <a:t>Общая характеристика этапа реализации как ключевой фазы жизненного цикла проекта</a:t>
            </a:r>
          </a:p>
          <a:p>
            <a:r>
              <a:rPr lang="ru-RU" dirty="0"/>
              <a:t>Сроки выполнения: до 15.05 (сжатые сроки)</a:t>
            </a:r>
          </a:p>
          <a:p>
            <a:r>
              <a:rPr lang="ru-RU" dirty="0"/>
              <a:t>Основная цель: преобразование проектных спецификаций в рабочий программный продукт</a:t>
            </a:r>
          </a:p>
          <a:p>
            <a:r>
              <a:rPr lang="ru-RU" dirty="0"/>
              <a:t>Используемая методология: гибридный подход (Scrum + Waterfall)</a:t>
            </a:r>
          </a:p>
        </p:txBody>
      </p:sp>
    </p:spTree>
    <p:extLst>
      <p:ext uri="{BB962C8B-B14F-4D97-AF65-F5344CB8AC3E}">
        <p14:creationId xmlns:p14="http://schemas.microsoft.com/office/powerpoint/2010/main" val="7359858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0C31A4A-E529-4F59-AC6A-FCFF9082A1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3638" y="331457"/>
            <a:ext cx="9423615" cy="916575"/>
          </a:xfrm>
        </p:spPr>
        <p:txBody>
          <a:bodyPr>
            <a:normAutofit/>
          </a:bodyPr>
          <a:lstStyle/>
          <a:p>
            <a:r>
              <a:rPr lang="ru-RU" dirty="0"/>
              <a:t>Организационная структура этапа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CB620F9-E6B3-44A1-ABE9-47CF4B578BC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33638" y="1421029"/>
            <a:ext cx="9223162" cy="73601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b="1" dirty="0"/>
              <a:t>Реализации продукта </a:t>
            </a:r>
            <a:r>
              <a:rPr lang="ru-RU" dirty="0"/>
              <a:t>– жизненный цикл разработки</a:t>
            </a:r>
            <a:endParaRPr lang="en-US" dirty="0"/>
          </a:p>
          <a:p>
            <a:pPr marL="0" indent="0">
              <a:buNone/>
            </a:pPr>
            <a:endParaRPr lang="ru-RU" dirty="0"/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E4287F05-6C30-4358-82EA-3AB40C26857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73908" y="2466526"/>
            <a:ext cx="7014108" cy="29704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4431539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0C31A4A-E529-4F59-AC6A-FCFF9082A1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3638" y="331457"/>
            <a:ext cx="9423615" cy="916575"/>
          </a:xfrm>
        </p:spPr>
        <p:txBody>
          <a:bodyPr/>
          <a:lstStyle/>
          <a:p>
            <a:r>
              <a:rPr lang="en-US" dirty="0" err="1"/>
              <a:t>Wbs</a:t>
            </a:r>
            <a:r>
              <a:rPr lang="en-US" dirty="0"/>
              <a:t> </a:t>
            </a:r>
            <a:r>
              <a:rPr lang="ru-RU" dirty="0"/>
              <a:t>по </a:t>
            </a:r>
            <a:r>
              <a:rPr lang="ru-RU" dirty="0" err="1"/>
              <a:t>разРаработке</a:t>
            </a:r>
            <a:r>
              <a:rPr lang="ru-RU" dirty="0"/>
              <a:t> 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CB620F9-E6B3-44A1-ABE9-47CF4B578BC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5402" y="1541363"/>
            <a:ext cx="2604383" cy="117057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sz="1000" b="1" dirty="0"/>
              <a:t>Проектирование</a:t>
            </a:r>
            <a:endParaRPr lang="ru-RU" sz="1000" dirty="0"/>
          </a:p>
          <a:p>
            <a:r>
              <a:rPr lang="ru-RU" sz="1100" i="1" dirty="0"/>
              <a:t>Проектирование архитектуры</a:t>
            </a:r>
            <a:endParaRPr lang="ru-RU" sz="1100" dirty="0"/>
          </a:p>
          <a:p>
            <a:r>
              <a:rPr lang="ru-RU" sz="1100" i="1" dirty="0"/>
              <a:t>UI/UX проектирование</a:t>
            </a:r>
            <a:endParaRPr lang="ru-RU" sz="1100" dirty="0"/>
          </a:p>
        </p:txBody>
      </p:sp>
      <p:sp>
        <p:nvSpPr>
          <p:cNvPr id="7" name="Объект 2">
            <a:extLst>
              <a:ext uri="{FF2B5EF4-FFF2-40B4-BE49-F238E27FC236}">
                <a16:creationId xmlns:a16="http://schemas.microsoft.com/office/drawing/2014/main" id="{CD4D25E2-B2B6-481E-9F08-01F75B959C94}"/>
              </a:ext>
            </a:extLst>
          </p:cNvPr>
          <p:cNvSpPr txBox="1">
            <a:spLocks/>
          </p:cNvSpPr>
          <p:nvPr/>
        </p:nvSpPr>
        <p:spPr>
          <a:xfrm>
            <a:off x="3119785" y="1541362"/>
            <a:ext cx="2294824" cy="1066801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55000" lnSpcReduction="20000"/>
          </a:bodyPr>
          <a:lstStyle>
            <a:lvl1pPr marL="2857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200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80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2pPr>
            <a:lvl3pPr marL="12001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60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3pPr>
            <a:lvl4pPr marL="15430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40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4pPr>
            <a:lvl5pPr marL="20002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40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40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40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40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40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ru-RU" b="1" dirty="0"/>
              <a:t> Разработка</a:t>
            </a:r>
            <a:endParaRPr lang="ru-RU" dirty="0"/>
          </a:p>
          <a:p>
            <a:r>
              <a:rPr lang="ru-RU" i="1" dirty="0"/>
              <a:t>Разработка фронтенда</a:t>
            </a:r>
            <a:endParaRPr lang="ru-RU" dirty="0"/>
          </a:p>
          <a:p>
            <a:r>
              <a:rPr lang="ru-RU" i="1" dirty="0"/>
              <a:t>Интеграция компонентов</a:t>
            </a:r>
            <a:endParaRPr lang="ru-RU" dirty="0"/>
          </a:p>
        </p:txBody>
      </p:sp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0D72C4A3-97BD-45B5-AE56-B2F2CFC85BD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3638" y="3349451"/>
            <a:ext cx="4286038" cy="2131309"/>
          </a:xfrm>
          <a:prstGeom prst="rect">
            <a:avLst/>
          </a:prstGeom>
        </p:spPr>
      </p:pic>
      <p:sp>
        <p:nvSpPr>
          <p:cNvPr id="11" name="Объект 2">
            <a:extLst>
              <a:ext uri="{FF2B5EF4-FFF2-40B4-BE49-F238E27FC236}">
                <a16:creationId xmlns:a16="http://schemas.microsoft.com/office/drawing/2014/main" id="{F692E51D-E0F7-4C1F-BEC9-1568D1D1F26C}"/>
              </a:ext>
            </a:extLst>
          </p:cNvPr>
          <p:cNvSpPr txBox="1">
            <a:spLocks/>
          </p:cNvSpPr>
          <p:nvPr/>
        </p:nvSpPr>
        <p:spPr>
          <a:xfrm>
            <a:off x="5558190" y="1541363"/>
            <a:ext cx="2294824" cy="1066801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47500" lnSpcReduction="20000"/>
          </a:bodyPr>
          <a:lstStyle>
            <a:lvl1pPr marL="2857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200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80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2pPr>
            <a:lvl3pPr marL="12001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60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3pPr>
            <a:lvl4pPr marL="15430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40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4pPr>
            <a:lvl5pPr marL="20002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40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40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40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40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40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r>
              <a:rPr lang="ru-RU" b="1" dirty="0"/>
              <a:t>Тестирование</a:t>
            </a:r>
            <a:endParaRPr lang="ru-RU" dirty="0"/>
          </a:p>
          <a:p>
            <a:r>
              <a:rPr lang="ru-RU" dirty="0"/>
              <a:t>Функциональное тестирование</a:t>
            </a:r>
          </a:p>
          <a:p>
            <a:r>
              <a:rPr lang="ru-RU" dirty="0"/>
              <a:t>UAT-тестирование</a:t>
            </a:r>
          </a:p>
          <a:p>
            <a:r>
              <a:rPr lang="ru-RU" dirty="0"/>
              <a:t>Исправление дефектов</a:t>
            </a:r>
          </a:p>
        </p:txBody>
      </p:sp>
      <p:sp>
        <p:nvSpPr>
          <p:cNvPr id="14" name="Прямоугольник 13">
            <a:extLst>
              <a:ext uri="{FF2B5EF4-FFF2-40B4-BE49-F238E27FC236}">
                <a16:creationId xmlns:a16="http://schemas.microsoft.com/office/drawing/2014/main" id="{C694FFF1-EF48-4F6D-80E2-6D80586696D5}"/>
              </a:ext>
            </a:extLst>
          </p:cNvPr>
          <p:cNvSpPr/>
          <p:nvPr/>
        </p:nvSpPr>
        <p:spPr>
          <a:xfrm>
            <a:off x="5734112" y="3349451"/>
            <a:ext cx="3251211" cy="2308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900" b="1" dirty="0">
                <a:solidFill>
                  <a:srgbClr val="0F496F"/>
                </a:solidFill>
              </a:rPr>
              <a:t>*</a:t>
            </a:r>
            <a:r>
              <a:rPr lang="ru-RU" sz="900" dirty="0">
                <a:solidFill>
                  <a:srgbClr val="0F496F"/>
                </a:solidFill>
              </a:rPr>
              <a:t>для </a:t>
            </a:r>
            <a:r>
              <a:rPr lang="en-US" sz="900" dirty="0">
                <a:solidFill>
                  <a:srgbClr val="0F496F"/>
                </a:solidFill>
              </a:rPr>
              <a:t>MVP </a:t>
            </a:r>
            <a:r>
              <a:rPr lang="ru-RU" sz="900" dirty="0">
                <a:solidFill>
                  <a:srgbClr val="0F496F"/>
                </a:solidFill>
              </a:rPr>
              <a:t>не критично выделим четыре важных этапа</a:t>
            </a:r>
          </a:p>
        </p:txBody>
      </p:sp>
      <p:sp>
        <p:nvSpPr>
          <p:cNvPr id="15" name="Объект 2">
            <a:extLst>
              <a:ext uri="{FF2B5EF4-FFF2-40B4-BE49-F238E27FC236}">
                <a16:creationId xmlns:a16="http://schemas.microsoft.com/office/drawing/2014/main" id="{DDB182A8-C1FC-4ABE-AF71-1A9F2B62F94F}"/>
              </a:ext>
            </a:extLst>
          </p:cNvPr>
          <p:cNvSpPr txBox="1">
            <a:spLocks/>
          </p:cNvSpPr>
          <p:nvPr/>
        </p:nvSpPr>
        <p:spPr>
          <a:xfrm>
            <a:off x="8130671" y="1541362"/>
            <a:ext cx="2604382" cy="139549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47500" lnSpcReduction="20000"/>
          </a:bodyPr>
          <a:lstStyle>
            <a:lvl1pPr marL="2857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200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80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2pPr>
            <a:lvl3pPr marL="12001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60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3pPr>
            <a:lvl4pPr marL="15430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40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4pPr>
            <a:lvl5pPr marL="20002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40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40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40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40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40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r>
              <a:rPr lang="ru-RU" b="1" dirty="0"/>
              <a:t>Развертывание</a:t>
            </a:r>
            <a:endParaRPr lang="ru-RU" dirty="0"/>
          </a:p>
          <a:p>
            <a:r>
              <a:rPr lang="ru-RU" dirty="0"/>
              <a:t>Непрерывная интеграция (CI/CD)</a:t>
            </a:r>
          </a:p>
          <a:p>
            <a:r>
              <a:rPr lang="ru-RU" dirty="0"/>
              <a:t>Регулярное демо для стейкхолдеров</a:t>
            </a:r>
          </a:p>
          <a:p>
            <a:r>
              <a:rPr lang="ru-RU" dirty="0"/>
              <a:t>Реализован весь запланированный функционал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92344649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0C31A4A-E529-4F59-AC6A-FCFF9082A1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3638" y="331457"/>
            <a:ext cx="9423615" cy="916575"/>
          </a:xfrm>
        </p:spPr>
        <p:txBody>
          <a:bodyPr/>
          <a:lstStyle/>
          <a:p>
            <a:r>
              <a:rPr lang="ru-RU" dirty="0"/>
              <a:t>КРИТЕРИЙ ЗАВЕРШЕНИЯ </a:t>
            </a:r>
            <a:r>
              <a:rPr lang="ru-RU" dirty="0" err="1"/>
              <a:t>ЭТАпа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CB620F9-E6B3-44A1-ABE9-47CF4B578BC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383692" y="1386649"/>
            <a:ext cx="5361355" cy="4350494"/>
          </a:xfrm>
        </p:spPr>
        <p:txBody>
          <a:bodyPr>
            <a:normAutofit/>
          </a:bodyPr>
          <a:lstStyle/>
          <a:p>
            <a:r>
              <a:rPr lang="ru-RU" dirty="0"/>
              <a:t>Реализован весь запланированный функционал</a:t>
            </a:r>
          </a:p>
          <a:p>
            <a:r>
              <a:rPr lang="ru-RU" dirty="0"/>
              <a:t>Успешно пройдены все виды тестирования</a:t>
            </a:r>
          </a:p>
          <a:p>
            <a:r>
              <a:rPr lang="ru-RU" dirty="0"/>
              <a:t>Документация актуализирована</a:t>
            </a:r>
          </a:p>
          <a:p>
            <a:r>
              <a:rPr lang="ru-RU" dirty="0"/>
              <a:t>Получено одобрение </a:t>
            </a:r>
            <a:r>
              <a:rPr lang="ru-RU" dirty="0" err="1"/>
              <a:t>product</a:t>
            </a:r>
            <a:r>
              <a:rPr lang="ru-RU" dirty="0"/>
              <a:t> </a:t>
            </a:r>
            <a:r>
              <a:rPr lang="ru-RU" dirty="0" err="1"/>
              <a:t>owner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74325409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A15699C1-DA4A-40D9-AB08-9431FE865D5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0074" y="2820984"/>
            <a:ext cx="9428896" cy="185066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dirty="0"/>
              <a:t>    приблизительные даты защиты проектов в этом весеннем семестре:</a:t>
            </a:r>
            <a:br>
              <a:rPr lang="ru-RU" dirty="0"/>
            </a:br>
            <a:endParaRPr lang="ru-RU" dirty="0"/>
          </a:p>
          <a:p>
            <a:pPr marL="0" indent="0">
              <a:buNone/>
            </a:pPr>
            <a:r>
              <a:rPr lang="ru-RU" b="1" dirty="0"/>
              <a:t>     с 15-18 мая</a:t>
            </a:r>
          </a:p>
        </p:txBody>
      </p:sp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4F611EA3-AB99-4A91-AC2D-35621723802C}"/>
              </a:ext>
            </a:extLst>
          </p:cNvPr>
          <p:cNvSpPr/>
          <p:nvPr/>
        </p:nvSpPr>
        <p:spPr>
          <a:xfrm>
            <a:off x="684212" y="527561"/>
            <a:ext cx="6399182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3600" dirty="0"/>
              <a:t>СПАСИБО ЗА ВНИМАНИЕ</a:t>
            </a:r>
          </a:p>
        </p:txBody>
      </p:sp>
    </p:spTree>
    <p:extLst>
      <p:ext uri="{BB962C8B-B14F-4D97-AF65-F5344CB8AC3E}">
        <p14:creationId xmlns:p14="http://schemas.microsoft.com/office/powerpoint/2010/main" val="3711966252"/>
      </p:ext>
    </p:extLst>
  </p:cSld>
  <p:clrMapOvr>
    <a:masterClrMapping/>
  </p:clrMapOvr>
</p:sld>
</file>

<file path=ppt/theme/theme1.xml><?xml version="1.0" encoding="utf-8"?>
<a:theme xmlns:a="http://schemas.openxmlformats.org/drawingml/2006/main" name="Сектор">
  <a:themeElements>
    <a:clrScheme name="Slice">
      <a:dk1>
        <a:sysClr val="windowText" lastClr="000000"/>
      </a:dk1>
      <a:lt1>
        <a:sysClr val="window" lastClr="FFFFFF"/>
      </a:lt1>
      <a:dk2>
        <a:srgbClr val="146194"/>
      </a:dk2>
      <a:lt2>
        <a:srgbClr val="76DBF4"/>
      </a:lt2>
      <a:accent1>
        <a:srgbClr val="052F61"/>
      </a:accent1>
      <a:accent2>
        <a:srgbClr val="A50E82"/>
      </a:accent2>
      <a:accent3>
        <a:srgbClr val="14967C"/>
      </a:accent3>
      <a:accent4>
        <a:srgbClr val="6A9E1F"/>
      </a:accent4>
      <a:accent5>
        <a:srgbClr val="E87D37"/>
      </a:accent5>
      <a:accent6>
        <a:srgbClr val="C62324"/>
      </a:accent6>
      <a:hlink>
        <a:srgbClr val="0D2E46"/>
      </a:hlink>
      <a:folHlink>
        <a:srgbClr val="356A95"/>
      </a:folHlink>
    </a:clrScheme>
    <a:fontScheme name="Slice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Slice">
      <a:fillStyleLst>
        <a:solidFill>
          <a:schemeClr val="phClr"/>
        </a:solidFill>
        <a:gradFill rotWithShape="1">
          <a:gsLst>
            <a:gs pos="0">
              <a:schemeClr val="phClr">
                <a:tint val="62000"/>
                <a:hueMod val="94000"/>
                <a:satMod val="140000"/>
                <a:lumMod val="110000"/>
              </a:schemeClr>
            </a:gs>
            <a:gs pos="100000">
              <a:schemeClr val="phClr">
                <a:tint val="84000"/>
                <a:satMod val="16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hueMod val="94000"/>
                <a:satMod val="130000"/>
                <a:lumMod val="128000"/>
              </a:schemeClr>
            </a:gs>
            <a:gs pos="100000">
              <a:schemeClr val="phClr">
                <a:shade val="94000"/>
                <a:lumMod val="88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tint val="76000"/>
              <a:alpha val="60000"/>
              <a:hueMod val="94000"/>
            </a:schemeClr>
          </a:solidFill>
          <a:prstDash val="solid"/>
        </a:ln>
        <a:ln w="15875" cap="rnd" cmpd="sng" algn="ctr">
          <a:solidFill>
            <a:schemeClr val="phClr">
              <a:hueMod val="94000"/>
            </a:schemeClr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50800" dist="38100" dir="5400000" rotWithShape="0">
              <a:srgbClr val="000000">
                <a:alpha val="46000"/>
              </a:srgbClr>
            </a:outerShdw>
          </a:effectLst>
          <a:scene3d>
            <a:camera prst="orthographicFront">
              <a:rot lat="0" lon="0" rev="0"/>
            </a:camera>
            <a:lightRig rig="threePt" dir="t"/>
          </a:scene3d>
          <a:sp3d prstMaterial="plastic">
            <a:bevelT w="25400" h="25400"/>
          </a:sp3d>
        </a:effectStyle>
      </a:effectStyleLst>
      <a:bgFillStyleLst>
        <a:solidFill>
          <a:schemeClr val="phClr"/>
        </a:solidFill>
        <a:gradFill rotWithShape="1">
          <a:gsLst>
            <a:gs pos="10000">
              <a:schemeClr val="phClr">
                <a:tint val="97000"/>
                <a:hueMod val="92000"/>
                <a:satMod val="169000"/>
                <a:lumMod val="164000"/>
              </a:schemeClr>
            </a:gs>
            <a:gs pos="100000">
              <a:schemeClr val="phClr">
                <a:shade val="96000"/>
                <a:satMod val="120000"/>
                <a:lumMod val="90000"/>
              </a:schemeClr>
            </a:gs>
          </a:gsLst>
          <a:lin ang="6120000" scaled="1"/>
        </a:gradFill>
        <a:gradFill rotWithShape="1">
          <a:gsLst>
            <a:gs pos="0">
              <a:schemeClr val="phClr">
                <a:tint val="97000"/>
                <a:hueMod val="92000"/>
                <a:satMod val="169000"/>
                <a:lumMod val="164000"/>
              </a:schemeClr>
            </a:gs>
            <a:gs pos="100000">
              <a:schemeClr val="phClr">
                <a:shade val="96000"/>
                <a:satMod val="120000"/>
                <a:lumMod val="90000"/>
              </a:schemeClr>
            </a:gs>
          </a:gsLst>
          <a:path path="circle">
            <a:fillToRect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lice" id="{0507925B-6AC9-4358-8E18-C330545D08F8}" vid="{13FEC7C6-62A9-40C4-99D2-581AACACAA2F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Slice</Template>
  <TotalTime>3570</TotalTime>
  <Words>196</Words>
  <Application>Microsoft Office PowerPoint</Application>
  <PresentationFormat>Широкоэкранный</PresentationFormat>
  <Paragraphs>52</Paragraphs>
  <Slides>8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8</vt:i4>
      </vt:variant>
    </vt:vector>
  </HeadingPairs>
  <TitlesOfParts>
    <vt:vector size="12" baseType="lpstr">
      <vt:lpstr>Arial</vt:lpstr>
      <vt:lpstr>Century Gothic</vt:lpstr>
      <vt:lpstr>Wingdings 3</vt:lpstr>
      <vt:lpstr>Сектор</vt:lpstr>
      <vt:lpstr>Этап 3. Реализация</vt:lpstr>
      <vt:lpstr>План митинга</vt:lpstr>
      <vt:lpstr>ИТОГИ ЭТАПА 2 ПРОЕКТИРОВАНИЕ</vt:lpstr>
      <vt:lpstr>Введение в этап реализации</vt:lpstr>
      <vt:lpstr>Организационная структура этапа</vt:lpstr>
      <vt:lpstr>Wbs по разРаработке </vt:lpstr>
      <vt:lpstr>КРИТЕРИЙ ЗАВЕРШЕНИЯ ЭТАпа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Этап 1. Инициализация</dc:title>
  <dc:creator>Сухарев Павел Викторович</dc:creator>
  <cp:lastModifiedBy>Сухарев Павел Викторович</cp:lastModifiedBy>
  <cp:revision>38</cp:revision>
  <dcterms:created xsi:type="dcterms:W3CDTF">2025-11-04T05:00:11Z</dcterms:created>
  <dcterms:modified xsi:type="dcterms:W3CDTF">2026-05-06T03:51:29Z</dcterms:modified>
</cp:coreProperties>
</file>